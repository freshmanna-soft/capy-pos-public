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34"/>
  </p:normalViewPr>
  <p:slideViewPr>
    <p:cSldViewPr snapToGrid="0" snapToObjects="1">
      <p:cViewPr varScale="1">
        <p:scale>
          <a:sx n="181" d="100"/>
          <a:sy n="181" d="100"/>
        </p:scale>
        <p:origin x="14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278C48-D876-5846-8FF2-403617F31E03}" type="datetimeFigureOut">
              <a:rPr lang="en-MX" smtClean="0"/>
              <a:t>29/06/26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79D7B1-E93B-CC41-BCD5-7340DB2D080E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578013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9D7B1-E93B-CC41-BCD5-7340DB2D080E}" type="slidenum">
              <a:rPr lang="en-MX" smtClean="0"/>
              <a:t>1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50056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70" y="1371600"/>
            <a:ext cx="904286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4800" dirty="0"/>
              <a:t>Bringing AI into AWS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6B6D4"/>
                </a:solidFill>
              </a:defRPr>
            </a:pPr>
            <a:r>
              <a:rPr dirty="0"/>
              <a:t>Smarter Applications, Faster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474720"/>
            <a:ext cx="2743200" cy="0"/>
          </a:xfrm>
          <a:prstGeom prst="rect">
            <a:avLst/>
          </a:prstGeom>
          <a:noFill/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E0F2FE"/>
                </a:solidFill>
              </a:defRPr>
            </a:pPr>
            <a:r>
              <a:rPr dirty="0"/>
              <a:t>AI-Powered Troubleshooting in Production</a:t>
            </a:r>
          </a:p>
        </p:txBody>
      </p:sp>
      <p:pic>
        <p:nvPicPr>
          <p:cNvPr id="6" name="Picture 5" descr="AWS Free SVG, PNG, and vector downloads · LobeHub">
            <a:extLst>
              <a:ext uri="{FF2B5EF4-FFF2-40B4-BE49-F238E27FC236}">
                <a16:creationId xmlns:a16="http://schemas.microsoft.com/office/drawing/2014/main" id="{F58EEF53-976F-106D-E959-59FF2789E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09" y="3352789"/>
            <a:ext cx="1291591" cy="1291591"/>
          </a:xfrm>
          <a:prstGeom prst="rect">
            <a:avLst/>
          </a:prstGeom>
        </p:spPr>
      </p:pic>
      <p:pic>
        <p:nvPicPr>
          <p:cNvPr id="7" name="Picture 6" descr="Ibm Logo vibrant PNG with transparent background — Transparent Background,  4464x1944 | PNGimg">
            <a:extLst>
              <a:ext uri="{FF2B5EF4-FFF2-40B4-BE49-F238E27FC236}">
                <a16:creationId xmlns:a16="http://schemas.microsoft.com/office/drawing/2014/main" id="{657EDA23-9840-75DB-44B5-34A765972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676" y="3717350"/>
            <a:ext cx="1291591" cy="5624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rPr dirty="0"/>
              <a:t>The Challenge: Production Failures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286000" cy="0"/>
          </a:xfrm>
          <a:prstGeom prst="rect">
            <a:avLst/>
          </a:prstGeom>
          <a:noFill/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rapezoid 3"/>
          <p:cNvSpPr/>
          <p:nvPr/>
        </p:nvSpPr>
        <p:spPr>
          <a:xfrm>
            <a:off x="731520" y="1371600"/>
            <a:ext cx="7680960" cy="822960"/>
          </a:xfrm>
          <a:prstGeom prst="trapezoid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🔴 Timeouts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Lambda functions hanging, unclear why</a:t>
            </a:r>
          </a:p>
        </p:txBody>
      </p:sp>
      <p:sp>
        <p:nvSpPr>
          <p:cNvPr id="7" name="Trapezoid 6"/>
          <p:cNvSpPr/>
          <p:nvPr/>
        </p:nvSpPr>
        <p:spPr>
          <a:xfrm>
            <a:off x="731520" y="2377440"/>
            <a:ext cx="7680960" cy="822960"/>
          </a:xfrm>
          <a:prstGeom prst="trapezoid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📉 Data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Negative stock, corrupted fields</a:t>
            </a:r>
          </a:p>
        </p:txBody>
      </p:sp>
      <p:sp>
        <p:nvSpPr>
          <p:cNvPr id="10" name="Trapezoid 9"/>
          <p:cNvSpPr/>
          <p:nvPr/>
        </p:nvSpPr>
        <p:spPr>
          <a:xfrm>
            <a:off x="731520" y="3383280"/>
            <a:ext cx="7680960" cy="822960"/>
          </a:xfrm>
          <a:prstGeom prst="trapezoid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🔍 Hidden Causes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Root cause buried in logs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The Solution: AI-Powered Diagnostics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286000" cy="0"/>
          </a:xfrm>
          <a:prstGeom prst="rect">
            <a:avLst/>
          </a:prstGeom>
          <a:noFill/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rapezoid 3"/>
          <p:cNvSpPr/>
          <p:nvPr/>
        </p:nvSpPr>
        <p:spPr>
          <a:xfrm>
            <a:off x="548640" y="1645920"/>
            <a:ext cx="2560320" cy="2743200"/>
          </a:xfrm>
          <a:prstGeom prst="trapezoid">
            <a:avLst/>
          </a:prstGeom>
          <a:solidFill>
            <a:srgbClr val="E0F2FE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X-Ray Tracing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Distributed tracing of all Lambda calls</a:t>
            </a:r>
          </a:p>
        </p:txBody>
      </p:sp>
      <p:sp>
        <p:nvSpPr>
          <p:cNvPr id="8" name="Trapezoid 7"/>
          <p:cNvSpPr/>
          <p:nvPr/>
        </p:nvSpPr>
        <p:spPr>
          <a:xfrm>
            <a:off x="3474720" y="1645920"/>
            <a:ext cx="2560320" cy="2743200"/>
          </a:xfrm>
          <a:prstGeom prst="trapezoid">
            <a:avLst/>
          </a:prstGeom>
          <a:solidFill>
            <a:srgbClr val="E0F2FE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AI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175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Claude diagnoses root cause in seconds</a:t>
            </a:r>
          </a:p>
        </p:txBody>
      </p:sp>
      <p:sp>
        <p:nvSpPr>
          <p:cNvPr id="12" name="Trapezoid 11"/>
          <p:cNvSpPr/>
          <p:nvPr/>
        </p:nvSpPr>
        <p:spPr>
          <a:xfrm>
            <a:off x="6400800" y="1645920"/>
            <a:ext cx="2560320" cy="2743200"/>
          </a:xfrm>
          <a:prstGeom prst="trapezoid">
            <a:avLst/>
          </a:prstGeom>
          <a:solidFill>
            <a:srgbClr val="E0F2FE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Auto-Recovery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175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AI can toggle failure modes or suggest fixes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AWS Demo: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286000" cy="0"/>
          </a:xfrm>
          <a:prstGeom prst="rect">
            <a:avLst/>
          </a:prstGeom>
          <a:noFill/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rapezoid 3"/>
          <p:cNvSpPr/>
          <p:nvPr/>
        </p:nvSpPr>
        <p:spPr>
          <a:xfrm>
            <a:off x="548640" y="1371600"/>
            <a:ext cx="1097280" cy="548640"/>
          </a:xfrm>
          <a:prstGeom prst="trapezoid">
            <a:avLst/>
          </a:prstGeom>
          <a:solidFill>
            <a:srgbClr val="E0E7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Frontend</a:t>
            </a:r>
          </a:p>
        </p:txBody>
      </p:sp>
      <p:sp>
        <p:nvSpPr>
          <p:cNvPr id="6" name="Trapezoid 5"/>
          <p:cNvSpPr/>
          <p:nvPr/>
        </p:nvSpPr>
        <p:spPr>
          <a:xfrm>
            <a:off x="1828800" y="1371600"/>
            <a:ext cx="1097280" cy="548640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1371600"/>
            <a:ext cx="10972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API Gateway</a:t>
            </a:r>
          </a:p>
        </p:txBody>
      </p:sp>
      <p:sp>
        <p:nvSpPr>
          <p:cNvPr id="8" name="Trapezoid 7"/>
          <p:cNvSpPr/>
          <p:nvPr/>
        </p:nvSpPr>
        <p:spPr>
          <a:xfrm>
            <a:off x="3108960" y="1371600"/>
            <a:ext cx="1097280" cy="548640"/>
          </a:xfrm>
          <a:prstGeom prst="trapezoid">
            <a:avLst/>
          </a:prstGeom>
          <a:solidFill>
            <a:srgbClr val="ECFDF5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1371600"/>
            <a:ext cx="10972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Lambda</a:t>
            </a:r>
          </a:p>
        </p:txBody>
      </p:sp>
      <p:sp>
        <p:nvSpPr>
          <p:cNvPr id="10" name="Trapezoid 9"/>
          <p:cNvSpPr/>
          <p:nvPr/>
        </p:nvSpPr>
        <p:spPr>
          <a:xfrm>
            <a:off x="4754880" y="1371600"/>
            <a:ext cx="1097280" cy="548640"/>
          </a:xfrm>
          <a:prstGeom prst="trapezoid">
            <a:avLst/>
          </a:prstGeom>
          <a:solidFill>
            <a:srgbClr val="FEF3C7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371600"/>
            <a:ext cx="10972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DynamoDB</a:t>
            </a:r>
          </a:p>
        </p:txBody>
      </p:sp>
      <p:sp>
        <p:nvSpPr>
          <p:cNvPr id="12" name="Trapezoid 11"/>
          <p:cNvSpPr/>
          <p:nvPr/>
        </p:nvSpPr>
        <p:spPr>
          <a:xfrm>
            <a:off x="6217920" y="1371600"/>
            <a:ext cx="1097280" cy="548640"/>
          </a:xfrm>
          <a:prstGeom prst="trapezoid">
            <a:avLst/>
          </a:prstGeom>
          <a:solidFill>
            <a:srgbClr val="FCE7F3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10972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X-Ray</a:t>
            </a:r>
          </a:p>
        </p:txBody>
      </p:sp>
      <p:sp>
        <p:nvSpPr>
          <p:cNvPr id="14" name="Trapezoid 13"/>
          <p:cNvSpPr/>
          <p:nvPr/>
        </p:nvSpPr>
        <p:spPr>
          <a:xfrm>
            <a:off x="7315200" y="1371600"/>
            <a:ext cx="1188720" cy="548640"/>
          </a:xfrm>
          <a:prstGeom prst="trapezoid">
            <a:avLst/>
          </a:prstGeom>
          <a:solidFill>
            <a:srgbClr val="F3E8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371600"/>
            <a:ext cx="11887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AI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2860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Scenario: E-commerce POS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346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Capy-POS on AWS: S3 frontend + Lambda handlers + DynamoDB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461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Three failure modes: Lambda timeout, negative stock, data corruption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All calls instrumented with AWS X-Ray for distributed tracing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AI Agent fetches traces &amp; logs, diagnoses root cause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Live Demo: The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0"/>
          </a:xfrm>
          <a:prstGeom prst="rect">
            <a:avLst/>
          </a:prstGeom>
          <a:noFill/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rapezoid 3"/>
          <p:cNvSpPr/>
          <p:nvPr/>
        </p:nvSpPr>
        <p:spPr>
          <a:xfrm>
            <a:off x="640080" y="1417320"/>
            <a:ext cx="365760" cy="365760"/>
          </a:xfrm>
          <a:prstGeom prst="trapezoid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Trigger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4630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Enable failure mode → call API → get error + trace ID</a:t>
            </a:r>
          </a:p>
        </p:txBody>
      </p:sp>
      <p:sp>
        <p:nvSpPr>
          <p:cNvPr id="8" name="Trapezoid 7"/>
          <p:cNvSpPr/>
          <p:nvPr/>
        </p:nvSpPr>
        <p:spPr>
          <a:xfrm>
            <a:off x="640080" y="2103120"/>
            <a:ext cx="365760" cy="365760"/>
          </a:xfrm>
          <a:prstGeom prst="trapezoid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48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Fetch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148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AI agent calls AWS X-Ray with trace ID</a:t>
            </a:r>
          </a:p>
        </p:txBody>
      </p:sp>
      <p:sp>
        <p:nvSpPr>
          <p:cNvPr id="12" name="Trapezoid 11"/>
          <p:cNvSpPr/>
          <p:nvPr/>
        </p:nvSpPr>
        <p:spPr>
          <a:xfrm>
            <a:off x="640080" y="2788920"/>
            <a:ext cx="365760" cy="365760"/>
          </a:xfrm>
          <a:prstGeom prst="trapezoid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346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Analyze 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8346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Fetch CloudWatch logs for Lambda execution</a:t>
            </a:r>
          </a:p>
        </p:txBody>
      </p:sp>
      <p:sp>
        <p:nvSpPr>
          <p:cNvPr id="16" name="Trapezoid 15"/>
          <p:cNvSpPr/>
          <p:nvPr/>
        </p:nvSpPr>
        <p:spPr>
          <a:xfrm>
            <a:off x="640080" y="3474720"/>
            <a:ext cx="365760" cy="365760"/>
          </a:xfrm>
          <a:prstGeom prst="trapezoid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Diagnose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520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AI identifies root cause (timeout, negative stock, etc)</a:t>
            </a:r>
          </a:p>
        </p:txBody>
      </p:sp>
      <p:sp>
        <p:nvSpPr>
          <p:cNvPr id="20" name="Trapezoid 19"/>
          <p:cNvSpPr/>
          <p:nvPr/>
        </p:nvSpPr>
        <p:spPr>
          <a:xfrm>
            <a:off x="640080" y="4160520"/>
            <a:ext cx="365760" cy="365760"/>
          </a:xfrm>
          <a:prstGeom prst="trapezoid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206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Recommend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206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Suggest solution or auto-disable failure 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Three Failure Scenarios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286000" cy="0"/>
          </a:xfrm>
          <a:prstGeom prst="rect">
            <a:avLst/>
          </a:prstGeom>
          <a:noFill/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rapezoid 3"/>
          <p:cNvSpPr/>
          <p:nvPr/>
        </p:nvSpPr>
        <p:spPr>
          <a:xfrm>
            <a:off x="548640" y="1280160"/>
            <a:ext cx="457200" cy="457200"/>
          </a:xfrm>
          <a:prstGeom prst="trapezoid">
            <a:avLst/>
          </a:prstGeom>
          <a:solidFill>
            <a:srgbClr val="E0F2FE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/>
            </a:pPr>
            <a: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Lambda Timeout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Trigger: GET /api/products with 25s delay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59E0B"/>
                </a:solidFill>
              </a:defRPr>
            </a:pPr>
            <a:r>
              <a:t>Result: Timeout at 30s</a:t>
            </a:r>
          </a:p>
        </p:txBody>
      </p:sp>
      <p:sp>
        <p:nvSpPr>
          <p:cNvPr id="9" name="Trapezoid 8"/>
          <p:cNvSpPr/>
          <p:nvPr/>
        </p:nvSpPr>
        <p:spPr>
          <a:xfrm>
            <a:off x="548640" y="2286000"/>
            <a:ext cx="457200" cy="457200"/>
          </a:xfrm>
          <a:prstGeom prst="trapezoid">
            <a:avLst/>
          </a:prstGeom>
          <a:solidFill>
            <a:srgbClr val="E0F2FE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/>
            </a:pPr>
            <a:r>
              <a:t>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860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Negative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603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Trigger: POST /api/products/prod-010/sell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889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59E0B"/>
                </a:solidFill>
              </a:defRPr>
            </a:pPr>
            <a:r>
              <a:t>Result: ConditionalCheckFailed</a:t>
            </a:r>
          </a:p>
        </p:txBody>
      </p:sp>
      <p:sp>
        <p:nvSpPr>
          <p:cNvPr id="14" name="Trapezoid 13"/>
          <p:cNvSpPr/>
          <p:nvPr/>
        </p:nvSpPr>
        <p:spPr>
          <a:xfrm>
            <a:off x="548640" y="3291840"/>
            <a:ext cx="457200" cy="457200"/>
          </a:xfrm>
          <a:prstGeom prst="trapezoid">
            <a:avLst/>
          </a:prstGeom>
          <a:solidFill>
            <a:srgbClr val="E0F2FE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/>
            </a:pPr>
            <a:r>
              <a:t>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918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Data Corruption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661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Trigger: GET /api/products with random null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7947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59E0B"/>
                </a:solidFill>
              </a:defRPr>
            </a:pPr>
            <a:r>
              <a:t>Result: Missing name/price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AI Agent: Available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286000" cy="0"/>
          </a:xfrm>
          <a:prstGeom prst="rect">
            <a:avLst/>
          </a:prstGeom>
          <a:noFill/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rapezoid 3"/>
          <p:cNvSpPr/>
          <p:nvPr/>
        </p:nvSpPr>
        <p:spPr>
          <a:xfrm>
            <a:off x="548640" y="1371600"/>
            <a:ext cx="1828800" cy="548640"/>
          </a:xfrm>
          <a:prstGeom prst="trapezoid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Tool</a:t>
            </a:r>
          </a:p>
        </p:txBody>
      </p:sp>
      <p:sp>
        <p:nvSpPr>
          <p:cNvPr id="6" name="Trapezoid 5"/>
          <p:cNvSpPr/>
          <p:nvPr/>
        </p:nvSpPr>
        <p:spPr>
          <a:xfrm>
            <a:off x="2560320" y="1371600"/>
            <a:ext cx="1828800" cy="548640"/>
          </a:xfrm>
          <a:prstGeom prst="trapezoid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51760" y="141732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Input</a:t>
            </a:r>
          </a:p>
        </p:txBody>
      </p:sp>
      <p:sp>
        <p:nvSpPr>
          <p:cNvPr id="8" name="Trapezoid 7"/>
          <p:cNvSpPr/>
          <p:nvPr/>
        </p:nvSpPr>
        <p:spPr>
          <a:xfrm>
            <a:off x="4389120" y="1371600"/>
            <a:ext cx="4023360" cy="548640"/>
          </a:xfrm>
          <a:prstGeom prst="trapezoid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1417320"/>
            <a:ext cx="3840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Description</a:t>
            </a:r>
          </a:p>
        </p:txBody>
      </p:sp>
      <p:sp>
        <p:nvSpPr>
          <p:cNvPr id="10" name="Trapezoid 9"/>
          <p:cNvSpPr/>
          <p:nvPr/>
        </p:nvSpPr>
        <p:spPr>
          <a:xfrm>
            <a:off x="548640" y="1920240"/>
            <a:ext cx="1828800" cy="548640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>
                <a:solidFill>
                  <a:srgbClr val="1F2937"/>
                </a:solidFill>
              </a:defRPr>
            </a:pPr>
            <a:r>
              <a:t>troubleshoot_trace</a:t>
            </a:r>
          </a:p>
        </p:txBody>
      </p:sp>
      <p:sp>
        <p:nvSpPr>
          <p:cNvPr id="12" name="Trapezoid 11"/>
          <p:cNvSpPr/>
          <p:nvPr/>
        </p:nvSpPr>
        <p:spPr>
          <a:xfrm>
            <a:off x="2560320" y="1920240"/>
            <a:ext cx="1828800" cy="548640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96596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>
                <a:solidFill>
                  <a:srgbClr val="1F2937"/>
                </a:solidFill>
              </a:defRPr>
            </a:pPr>
            <a:r>
              <a:t>traceId (string)</a:t>
            </a:r>
          </a:p>
        </p:txBody>
      </p:sp>
      <p:sp>
        <p:nvSpPr>
          <p:cNvPr id="14" name="Trapezoid 13"/>
          <p:cNvSpPr/>
          <p:nvPr/>
        </p:nvSpPr>
        <p:spPr>
          <a:xfrm>
            <a:off x="4389120" y="1920240"/>
            <a:ext cx="4023360" cy="548640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59" y="1965960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>
                <a:solidFill>
                  <a:srgbClr val="1F2937"/>
                </a:solidFill>
              </a:defRPr>
            </a:pPr>
            <a:r>
              <a:t>Fetch X-Ray + logs, return diagnosis</a:t>
            </a:r>
          </a:p>
        </p:txBody>
      </p:sp>
      <p:sp>
        <p:nvSpPr>
          <p:cNvPr id="16" name="Trapezoid 15"/>
          <p:cNvSpPr/>
          <p:nvPr/>
        </p:nvSpPr>
        <p:spPr>
          <a:xfrm>
            <a:off x="548640" y="2468880"/>
            <a:ext cx="1828800" cy="548640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51460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>
                <a:solidFill>
                  <a:srgbClr val="1F2937"/>
                </a:solidFill>
              </a:defRPr>
            </a:pPr>
            <a:r>
              <a:t>get_recent_traces</a:t>
            </a:r>
          </a:p>
        </p:txBody>
      </p:sp>
      <p:sp>
        <p:nvSpPr>
          <p:cNvPr id="18" name="Trapezoid 17"/>
          <p:cNvSpPr/>
          <p:nvPr/>
        </p:nvSpPr>
        <p:spPr>
          <a:xfrm>
            <a:off x="2560320" y="2468880"/>
            <a:ext cx="1828800" cy="548640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251460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>
                <a:solidFill>
                  <a:srgbClr val="1F2937"/>
                </a:solidFill>
              </a:defRPr>
            </a:pPr>
            <a:r>
              <a:t>(none)</a:t>
            </a:r>
          </a:p>
        </p:txBody>
      </p:sp>
      <p:sp>
        <p:nvSpPr>
          <p:cNvPr id="20" name="Trapezoid 19"/>
          <p:cNvSpPr/>
          <p:nvPr/>
        </p:nvSpPr>
        <p:spPr>
          <a:xfrm>
            <a:off x="4389120" y="2468880"/>
            <a:ext cx="4023360" cy="548640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59" y="2514600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>
                <a:solidFill>
                  <a:srgbClr val="1F2937"/>
                </a:solidFill>
              </a:defRPr>
            </a:pPr>
            <a:r>
              <a:t>List recent error traces (last 5 min)</a:t>
            </a:r>
          </a:p>
        </p:txBody>
      </p:sp>
      <p:sp>
        <p:nvSpPr>
          <p:cNvPr id="22" name="Trapezoid 21"/>
          <p:cNvSpPr/>
          <p:nvPr/>
        </p:nvSpPr>
        <p:spPr>
          <a:xfrm>
            <a:off x="548640" y="3017520"/>
            <a:ext cx="1828800" cy="548640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063239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>
                <a:solidFill>
                  <a:srgbClr val="1F2937"/>
                </a:solidFill>
              </a:defRPr>
            </a:pPr>
            <a:r>
              <a:t>toggle_failure</a:t>
            </a:r>
          </a:p>
        </p:txBody>
      </p:sp>
      <p:sp>
        <p:nvSpPr>
          <p:cNvPr id="24" name="Trapezoid 23"/>
          <p:cNvSpPr/>
          <p:nvPr/>
        </p:nvSpPr>
        <p:spPr>
          <a:xfrm>
            <a:off x="2560320" y="3017520"/>
            <a:ext cx="1828800" cy="548640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51760" y="3063239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>
                <a:solidFill>
                  <a:srgbClr val="1F2937"/>
                </a:solidFill>
              </a:defRPr>
            </a:pPr>
            <a:r>
              <a:t>enable (boolean)</a:t>
            </a:r>
          </a:p>
        </p:txBody>
      </p:sp>
      <p:sp>
        <p:nvSpPr>
          <p:cNvPr id="26" name="Trapezoid 25"/>
          <p:cNvSpPr/>
          <p:nvPr/>
        </p:nvSpPr>
        <p:spPr>
          <a:xfrm>
            <a:off x="4389120" y="3017520"/>
            <a:ext cx="4023360" cy="548640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59" y="3063239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>
                <a:solidFill>
                  <a:srgbClr val="1F2937"/>
                </a:solidFill>
              </a:defRPr>
            </a:pPr>
            <a:r>
              <a:t>Enable/disable failure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B7280"/>
                </a:solidFill>
              </a:defRPr>
            </a:pPr>
            <a:r>
              <a:t>All tools are deployed in an MCP Server connected to Claude.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Benefits</a:t>
            </a:r>
          </a:p>
        </p:txBody>
      </p:sp>
      <p:sp>
        <p:nvSpPr>
          <p:cNvPr id="3" name="Trapezoid 2"/>
          <p:cNvSpPr/>
          <p:nvPr/>
        </p:nvSpPr>
        <p:spPr>
          <a:xfrm>
            <a:off x="640080" y="1371600"/>
            <a:ext cx="3657600" cy="1371600"/>
          </a:xfrm>
          <a:prstGeom prst="trapezoid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🚀 Faster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From hours to seconds</a:t>
            </a:r>
          </a:p>
        </p:txBody>
      </p:sp>
      <p:sp>
        <p:nvSpPr>
          <p:cNvPr id="6" name="Trapezoid 5"/>
          <p:cNvSpPr/>
          <p:nvPr/>
        </p:nvSpPr>
        <p:spPr>
          <a:xfrm>
            <a:off x="4754880" y="1371600"/>
            <a:ext cx="3657600" cy="1371600"/>
          </a:xfrm>
          <a:prstGeom prst="trapezoid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5087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🧠 Human-Level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65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AI understands distributed traces</a:t>
            </a:r>
          </a:p>
        </p:txBody>
      </p:sp>
      <p:sp>
        <p:nvSpPr>
          <p:cNvPr id="9" name="Trapezoid 8"/>
          <p:cNvSpPr/>
          <p:nvPr/>
        </p:nvSpPr>
        <p:spPr>
          <a:xfrm>
            <a:off x="640080" y="3017520"/>
            <a:ext cx="3657600" cy="1371600"/>
          </a:xfrm>
          <a:prstGeom prst="trapezoid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15467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⚙️ Automated 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7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Toggle failure modes, apply fixes</a:t>
            </a:r>
          </a:p>
        </p:txBody>
      </p:sp>
      <p:sp>
        <p:nvSpPr>
          <p:cNvPr id="12" name="Trapezoid 11"/>
          <p:cNvSpPr/>
          <p:nvPr/>
        </p:nvSpPr>
        <p:spPr>
          <a:xfrm>
            <a:off x="4754880" y="3017520"/>
            <a:ext cx="3657600" cy="1371600"/>
          </a:xfrm>
          <a:prstGeom prst="trapezoid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315467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📊 Full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61187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X-Ray traces + CloudWatch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Cost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286000" cy="0"/>
          </a:xfrm>
          <a:prstGeom prst="rect">
            <a:avLst/>
          </a:prstGeom>
          <a:noFill/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💰 S3: Pennies for static hosting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💰 DynamoDB: Pay-per-request (idle = $0)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💰 Lambda: Free tier covers 1M requests/month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💰 X-Ray: Free tier covers 100K traces/month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💰 Total: Essentially $0 when idle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⚡ Diagnosis latency: &lt; 5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7830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⚡ X-Ray tracing overhead: &lt; 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⚡ API response time: &lt; 100ms (normal 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060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⚡ AI analysis: ~2 seconds per trace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Bringing AI into Your AWS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6B6D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446</Words>
  <Application>Microsoft Macintosh PowerPoint</Application>
  <PresentationFormat>On-screen Show (16:9)</PresentationFormat>
  <Paragraphs>97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BRITO</cp:lastModifiedBy>
  <cp:revision>2</cp:revision>
  <dcterms:created xsi:type="dcterms:W3CDTF">2013-01-27T09:14:16Z</dcterms:created>
  <dcterms:modified xsi:type="dcterms:W3CDTF">2026-06-29T17:03:15Z</dcterms:modified>
  <cp:category/>
</cp:coreProperties>
</file>